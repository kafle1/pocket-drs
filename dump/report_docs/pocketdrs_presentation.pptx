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6" name="Google Shape;16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266050" y="11290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9" name="Google Shape;39;p8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66050" y="1129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descr="logo" id="9" name="Google Shape;9;p1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4508225" y="4489238"/>
            <a:ext cx="1524000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"/>
          <p:cNvSpPr/>
          <p:nvPr/>
        </p:nvSpPr>
        <p:spPr>
          <a:xfrm>
            <a:off x="-45650" y="-23400"/>
            <a:ext cx="9144000" cy="393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1"/>
          <p:cNvSpPr txBox="1"/>
          <p:nvPr/>
        </p:nvSpPr>
        <p:spPr>
          <a:xfrm>
            <a:off x="-967575" y="-23400"/>
            <a:ext cx="5818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</a:rPr>
              <a:t>FINAL PROJECT DEFENSE | BIT</a:t>
            </a:r>
            <a:endParaRPr sz="1800">
              <a:solidFill>
                <a:schemeClr val="lt1"/>
              </a:solidFill>
            </a:endParaRPr>
          </a:p>
        </p:txBody>
      </p:sp>
      <p:pic>
        <p:nvPicPr>
          <p:cNvPr id="12" name="Google Shape;12;p1" title="logo-removebg-preview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351800" y="4240213"/>
            <a:ext cx="926675" cy="926675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1"/>
          <p:cNvSpPr txBox="1"/>
          <p:nvPr/>
        </p:nvSpPr>
        <p:spPr>
          <a:xfrm>
            <a:off x="3932675" y="-23400"/>
            <a:ext cx="5818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</a:rPr>
              <a:t>BATCH 2022</a:t>
            </a:r>
            <a:r>
              <a:rPr i="1" lang="en-GB" sz="1800">
                <a:solidFill>
                  <a:schemeClr val="lt1"/>
                </a:solidFill>
              </a:rPr>
              <a:t> </a:t>
            </a:r>
            <a:endParaRPr i="1" sz="1800">
              <a:solidFill>
                <a:schemeClr val="lt1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80160"/>
            <a:ext cx="813816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2335B"/>
                </a:solidFill>
              </a:defRPr>
            </a:pPr>
            <a:r>
              <a:t>PocketDRS</a:t>
            </a:r>
          </a:p>
          <a:p>
            <a:pPr algn="ctr">
              <a:spcAft>
                <a:spcPts val="0"/>
              </a:spcAft>
              <a:defRPr sz="1800" b="0">
                <a:solidFill>
                  <a:srgbClr val="202020"/>
                </a:solidFill>
              </a:defRPr>
            </a:pPr>
            <a:r>
              <a:t>A Single-View 3D Trajectory Reconstruction and</a:t>
            </a:r>
          </a:p>
          <a:p>
            <a:pPr algn="ctr">
              <a:spcAft>
                <a:spcPts val="1400"/>
              </a:spcAft>
              <a:defRPr sz="1800" b="0">
                <a:solidFill>
                  <a:srgbClr val="202020"/>
                </a:solidFill>
              </a:defRPr>
            </a:pPr>
            <a:r>
              <a:t>Decision Review System for Cricket</a:t>
            </a:r>
          </a:p>
          <a:p>
            <a:pPr algn="ctr">
              <a:spcAft>
                <a:spcPts val="200"/>
              </a:spcAft>
              <a:defRPr sz="1600" b="0">
                <a:solidFill>
                  <a:srgbClr val="202020"/>
                </a:solidFill>
              </a:defRPr>
            </a:pPr>
            <a:r>
              <a:t>Niraj Kafle, BIT (LC0003001674)</a:t>
            </a:r>
          </a:p>
          <a:p>
            <a:pPr algn="ctr">
              <a:spcAft>
                <a:spcPts val="200"/>
              </a:spcAft>
              <a:defRPr sz="1500" b="0">
                <a:solidFill>
                  <a:srgbClr val="202020"/>
                </a:solidFill>
              </a:defRPr>
            </a:pPr>
            <a:r>
              <a:t>Supervisor: Mr. Saishab Bhattarai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2E6FB5"/>
                </a:solidFill>
              </a:defRPr>
            </a:pPr>
            <a:r>
              <a:t>Phoenix College of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Cricket officiating increasingly relies on technology for close LBW decisions.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Professional systems (e.g. Hawk-Eye) use 6 to 8 synchronised high-speed cameras.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Costly, complex, and impractical for schools, clubs, and training grounds.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PocketDRS: low-cost LBW support from a single smartphone camera + a lightweight server.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Record delivery → mark pitch corners → analyse → 3D visualisation + LBW verdict.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Professional DRS needs multiple synchronised cameras to recover depth, which is expensive and inaccessible.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 single consumer camera makes the problem hard: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No direct depth from one view.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Ball is small, fast, motion-blurred, easily confused with clutter.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Small calibration errors cause large pitch-coordinate errors.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Can a single-phone workflow give consistent, understandable LBW review support?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General: a low-cost single-camera system that analyses a delivery and assists LBW review.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Specific objectives: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Study existing DRS and monocular sports-tracking work.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User-guided pitch-corner calibration.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Detect and track the ball from delivery video.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Map detections to pitch coordinates (homography); recover camera pose.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Detect bounce/impact; apply rule-based LBW (ICC Rule 36).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Present an interactive 3D visualisation of the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Functional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User authentication via Firebase (email/password or Google sign-in).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Record or select a delivery video, and trim to the delivery.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Calibrate the pitch by tapping the four corners; validate quality.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Submit the clip for server-side ball detection and 3D reconstruction.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Return an LBW decision (OUT / NOT OUT / UMPIRE'S CALL) with rationale.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Interactive 3D trajectory view and saved analysis history.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Non-functional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Response time: process a 5-second clip within ~30 seconds.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Accuracy: synthetic-test position error under 80 cm.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Offline support: calibration and selection work offline; analysis needs connectivity.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Security: Firebase authentication; data encrypted in transit.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Cross-platform (Android / iOS), usability, maintainability, data privacy.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Data Modeling: ER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7570" y="1234440"/>
            <a:ext cx="2108859" cy="30403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Process Modeling: Data Flow Diagrams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fd_leve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68198"/>
            <a:ext cx="3931920" cy="6985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0005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02020"/>
                </a:solidFill>
              </a:defRPr>
            </a:pPr>
            <a:r>
              <a:t>Level 0 (context)</a:t>
            </a:r>
          </a:p>
        </p:txBody>
      </p:sp>
      <p:pic>
        <p:nvPicPr>
          <p:cNvPr id="6" name="Picture 5" descr="dfd_leve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7336" y="1234440"/>
            <a:ext cx="1915568" cy="2766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09160" y="40005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02020"/>
                </a:solidFill>
              </a:defRPr>
            </a:pPr>
            <a:r>
              <a:t>Level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667" y="1234440"/>
            <a:ext cx="2320666" cy="30403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Algorithm Details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1.  Camera pose: from 4 tapped pitch corners (PnP); reject the below-ground mirror.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2.  Ball detection: motion plus colour, or a learned (YOLO) detector for real footage.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3.  Trajectory association: RANSAC links detections into one smooth path.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4.  3D reconstruction: depth-from-size plus projectile-motion fit, anchored at the bounce.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5.  LBW decision: ICC Rule 36 checks (pitching, impact, hitting stumps).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Implementing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Mobile: Flutter (Dart) for capture, trim, calibration UI, and 3D WebView.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Backend: FastAPI (Python) on Google Cloud Run.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Computer vision: OpenCV, NumPy, SciPy; learned detection via Ultralytics YOLO.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Data / Auth: Firebase Authentication + Cloud Firestore.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Visualisation: Three.js (3D Hawk-Eye viewer) inside a WebView.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Implementation: Module Details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Mobile app: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Auth, video capture/trim, pitch-calibration canvas, REST client, 3D viewer.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Backend pipeline: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Video decoder, ball detector, trajectory finder (RANSAC).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Calibration / camera-pose solver (PnP + homography).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3D reconstruction, LBW decision engine, async job manager.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Results: 3D Verdict Render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pp_result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776" y="1234440"/>
            <a:ext cx="5318448" cy="30403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Validation: LBW Verdicts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se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25" y="1234440"/>
            <a:ext cx="1383030" cy="27660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000500"/>
            <a:ext cx="2529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02020"/>
                </a:solidFill>
              </a:defRPr>
            </a:pPr>
            <a:r>
              <a:t>OUT</a:t>
            </a:r>
          </a:p>
        </p:txBody>
      </p:sp>
      <p:pic>
        <p:nvPicPr>
          <p:cNvPr id="6" name="Picture 5" descr="case_not_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0485" y="1234440"/>
            <a:ext cx="1383030" cy="2766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07080" y="4000500"/>
            <a:ext cx="2529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02020"/>
                </a:solidFill>
              </a:defRPr>
            </a:pPr>
            <a:r>
              <a:t>NOT OUT</a:t>
            </a:r>
          </a:p>
        </p:txBody>
      </p:sp>
      <p:pic>
        <p:nvPicPr>
          <p:cNvPr id="8" name="Picture 7" descr="case_umpires_c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645" y="1234440"/>
            <a:ext cx="1383030" cy="27660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11240" y="4000500"/>
            <a:ext cx="2529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02020"/>
                </a:solidFill>
              </a:defRPr>
            </a:pPr>
            <a:r>
              <a:t>Umpire's Call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 complete single-camera LBW pipeline: calibrate → track → 3D → decision → visualise.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Synthetic validation: correct verdict on 53 / 66 deliveries (80.3%), OUT 16/16.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Calibration validated on real footage; learned (YOLO) detector tracks the ball on real clips.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Not ICC-certified; future work: multi-camera fusion, on-device inference, real-time streaming.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