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266050" y="11290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9" name="Google Shape;39;p8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66050" y="1129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descr="logo" id="9" name="Google Shape;9;p1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4508225" y="4489238"/>
            <a:ext cx="152400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/>
          <p:nvPr/>
        </p:nvSpPr>
        <p:spPr>
          <a:xfrm>
            <a:off x="-45650" y="-23400"/>
            <a:ext cx="9144000" cy="393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1"/>
          <p:cNvSpPr txBox="1"/>
          <p:nvPr/>
        </p:nvSpPr>
        <p:spPr>
          <a:xfrm>
            <a:off x="-967575" y="-23400"/>
            <a:ext cx="5818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</a:rPr>
              <a:t>FINAL PROJECT DEFENSE | BIT</a:t>
            </a:r>
            <a:endParaRPr sz="1800">
              <a:solidFill>
                <a:schemeClr val="lt1"/>
              </a:solidFill>
            </a:endParaRPr>
          </a:p>
        </p:txBody>
      </p:sp>
      <p:pic>
        <p:nvPicPr>
          <p:cNvPr id="12" name="Google Shape;12;p1" title="logo-removebg-preview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351800" y="4240213"/>
            <a:ext cx="926675" cy="926675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"/>
          <p:cNvSpPr txBox="1"/>
          <p:nvPr/>
        </p:nvSpPr>
        <p:spPr>
          <a:xfrm>
            <a:off x="3932675" y="-23400"/>
            <a:ext cx="5818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</a:rPr>
              <a:t>BATCH 2022</a:t>
            </a:r>
            <a:r>
              <a:rPr i="1" lang="en-GB" sz="1800">
                <a:solidFill>
                  <a:schemeClr val="lt1"/>
                </a:solidFill>
              </a:rPr>
              <a:t> </a:t>
            </a:r>
            <a:endParaRPr i="1" sz="1800">
              <a:solidFill>
                <a:schemeClr val="lt1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051560"/>
            <a:ext cx="2194560" cy="508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8138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4000" b="1">
                <a:solidFill>
                  <a:srgbClr val="12335B"/>
                </a:solidFill>
              </a:defRPr>
            </a:pPr>
            <a:r>
              <a:t>PocketDRS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222222"/>
                </a:solidFill>
              </a:defRPr>
            </a:pPr>
            <a:r>
              <a:t>A Single-View 3D Trajectory Reconstruction and Decision</a:t>
            </a:r>
          </a:p>
          <a:p>
            <a:pPr algn="l">
              <a:spcAft>
                <a:spcPts val="1600"/>
              </a:spcAft>
              <a:defRPr sz="1800" b="0">
                <a:solidFill>
                  <a:srgbClr val="222222"/>
                </a:solidFill>
              </a:defRPr>
            </a:pPr>
            <a:r>
              <a:t>Review System (DRS) for Cricket</a:t>
            </a:r>
          </a:p>
          <a:p>
            <a:pPr algn="l">
              <a:spcAft>
                <a:spcPts val="300"/>
              </a:spcAft>
              <a:defRPr sz="1500" b="0">
                <a:solidFill>
                  <a:srgbClr val="222222"/>
                </a:solidFill>
              </a:defRPr>
            </a:pPr>
            <a:r>
              <a:t>Niraj Kafle  ·  BIT 7th Semester  ·  LC0003001674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22222"/>
                </a:solidFill>
              </a:defRPr>
            </a:pPr>
            <a:r>
              <a:t>Supervisor: Mr. Saishab Bhattarai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2E6FB5"/>
                </a:solidFill>
              </a:defRPr>
            </a:pPr>
            <a:r>
              <a:t>Phoenix College of Management  ·  Lincoln University College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35024"/>
            <a:ext cx="8138160" cy="29672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2E6FB5"/>
                </a:solidFill>
              </a:rPr>
              <a:t>1.  </a:t>
            </a:r>
            <a:r>
              <a:rPr sz="1700">
                <a:solidFill>
                  <a:srgbClr val="222222"/>
                </a:solidFill>
              </a:rPr>
              <a:t>Introduction &amp; Problem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2E6FB5"/>
                </a:solidFill>
              </a:rPr>
              <a:t>2.  </a:t>
            </a:r>
            <a:r>
              <a:rPr sz="1700">
                <a:solidFill>
                  <a:srgbClr val="222222"/>
                </a:solidFill>
              </a:rPr>
              <a:t>Objectives &amp; Requirements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2E6FB5"/>
                </a:solidFill>
              </a:rPr>
              <a:t>3.  </a:t>
            </a:r>
            <a:r>
              <a:rPr sz="1700">
                <a:solidFill>
                  <a:srgbClr val="222222"/>
                </a:solidFill>
              </a:rPr>
              <a:t>System Analysis &amp; Design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2E6FB5"/>
                </a:solidFill>
              </a:rPr>
              <a:t>4.  </a:t>
            </a:r>
            <a:r>
              <a:rPr sz="1700">
                <a:solidFill>
                  <a:srgbClr val="222222"/>
                </a:solidFill>
              </a:rPr>
              <a:t>The Five-Stage Algorithm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2E6FB5"/>
                </a:solidFill>
              </a:rPr>
              <a:t>5.  </a:t>
            </a:r>
            <a:r>
              <a:rPr sz="1700">
                <a:solidFill>
                  <a:srgbClr val="222222"/>
                </a:solidFill>
              </a:rPr>
              <a:t>Implementation &amp; Tools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2E6FB5"/>
                </a:solidFill>
              </a:rPr>
              <a:t>6.  </a:t>
            </a:r>
            <a:r>
              <a:rPr sz="1700">
                <a:solidFill>
                  <a:srgbClr val="222222"/>
                </a:solidFill>
              </a:rPr>
              <a:t>Results &amp; Validation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2E6FB5"/>
                </a:solidFill>
              </a:rPr>
              <a:t>7.  </a:t>
            </a:r>
            <a:r>
              <a:rPr sz="1700">
                <a:solidFill>
                  <a:srgbClr val="222222"/>
                </a:solidFill>
              </a:rPr>
              <a:t>Limitations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81381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2000"/>
              </a:lnSpc>
              <a:defRPr sz="1700" b="1">
                <a:solidFill>
                  <a:srgbClr val="12335B"/>
                </a:solidFill>
              </a:defRPr>
            </a:pPr>
            <a:r>
              <a:t>PocketDRS brings ball-tracking DRS to grassroots cricket with one smartphone.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8138160" cy="24551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• LBW is one of cricket's most contested calls, judged live from a single viewpoint.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• Professional DRS (Hawk-Eye) needs six to eight synchronised high-speed cameras and dedicated hardware.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• That rig costs a fortune, so schools, clubs, and training grounds have no access to ball tracking.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• PocketDRS reconstructs a delivery in real-world 3D from one phone camera and supports the LBW decision.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• A Flutter app records the ball; a FastAPI + OpenCV server tracks it, rebuilds the 3D path, and applies ICC Rule 36.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81381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2000"/>
              </a:lnSpc>
              <a:defRPr sz="1700" b="1">
                <a:solidFill>
                  <a:srgbClr val="12335B"/>
                </a:solidFill>
              </a:defRPr>
            </a:pPr>
            <a:r>
              <a:t>Recovering a correct 3D ball path from a single 2D view is the core challenge.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8138160" cy="24551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• Umpires call LBW in real time from one angle — line, length, height, and impact at once.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• Professional ball tracking needs multi-camera rigs, out of reach for grassroots cricket.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• A single phone gives only 2D footage: depth ambiguity, motion blur, and an unknown camera pose.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• Lifting that 2D pixel track to a correct 3D trajectory from one view is the hard part.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• Need: recover 3D ball flight from one phone video and return a transparent LBW verdict.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81381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2000"/>
              </a:lnSpc>
              <a:defRPr sz="1700" b="1">
                <a:solidFill>
                  <a:srgbClr val="12335B"/>
                </a:solidFill>
              </a:defRPr>
            </a:pPr>
            <a:r>
              <a:t>Build a phone-only pipeline that reconstructs a delivery in 3D and supports the LBW call.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8138160" cy="24551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• Recover the camera pose from the marked stumps using PnP (the tapped corners set the detection region).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• Detect and track the ball across frames (motion + colour + a learned YOLO detector).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• Link the detections into one smooth trajectory using RANSAC.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• Rebuild the ball path in real-world 3D using projectile-motion physics.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• Apply the three ICC Rule 36 checks — pitching, impact, wickets — for the verdict.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Functional 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81381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2000"/>
              </a:lnSpc>
              <a:defRPr sz="1700" b="1">
                <a:solidFill>
                  <a:srgbClr val="12335B"/>
                </a:solidFill>
              </a:defRPr>
            </a:pPr>
            <a:r>
              <a:t>Twelve functional requirements span capture, calibration, analysis, and visualisation.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8138160" cy="24551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• Record or upload a delivery clip and tap the four pitch corners for calibration.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• Detect the ball per frame and link the detections into a single trajectory.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• Recover the camera pose and reconstruct the ball path in real-world 3D.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• Compute pitching, impact, and wicket-hitting and return an LBW verdict.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• Render a broadcast-style 2D overlay and an interactive 3D Hawk-Eye view.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Non-functional 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81381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2000"/>
              </a:lnSpc>
              <a:defRPr sz="1700" b="1">
                <a:solidFill>
                  <a:srgbClr val="12335B"/>
                </a:solidFill>
              </a:defRPr>
            </a:pPr>
            <a:r>
              <a:t>Fast, usable, transparent, and portable — with no specialist hardware.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8138160" cy="24551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• Performance: analyse a delivery within about thirty seconds end to end.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• Usability: four taps, no specialist hardware, no configuration.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• Accuracy: correct camera recovery and a verdict within honest monocular bounds.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• Transparency: every verdict shows the three checks and the predicted impact at the stumps.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• Portability: a standard Android or iOS phone plus a Python FastAPI server.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ANALYSIS &amp;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Use-Case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8</a:t>
            </a:r>
          </a:p>
        </p:txBody>
      </p:sp>
      <p:pic>
        <p:nvPicPr>
          <p:cNvPr id="6" name="Picture 5" descr="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3428" y="1335024"/>
            <a:ext cx="2017144" cy="29672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ANALYSIS &amp;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Data Modeling: ER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9</a:t>
            </a:r>
          </a:p>
        </p:txBody>
      </p:sp>
      <p:pic>
        <p:nvPicPr>
          <p:cNvPr id="6" name="Picture 5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2940" y="1335024"/>
            <a:ext cx="2058119" cy="29672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ANALYSIS &amp;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Process Modeling: Data Flow Diagrams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10</a:t>
            </a:r>
          </a:p>
        </p:txBody>
      </p:sp>
      <p:pic>
        <p:nvPicPr>
          <p:cNvPr id="6" name="Picture 5" descr="dfd_leve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32206"/>
            <a:ext cx="3931920" cy="6985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027932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22222"/>
                </a:solidFill>
              </a:defRPr>
            </a:pPr>
            <a:r>
              <a:t>Level 0 (context)</a:t>
            </a:r>
          </a:p>
        </p:txBody>
      </p:sp>
      <p:pic>
        <p:nvPicPr>
          <p:cNvPr id="8" name="Picture 7" descr="dfd_leve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666" y="1335024"/>
            <a:ext cx="1864908" cy="26929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4027932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22222"/>
                </a:solidFill>
              </a:defRPr>
            </a:pPr>
            <a:r>
              <a:t>Level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ANALYSIS &amp;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11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584" y="1335024"/>
            <a:ext cx="2264831" cy="29672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Algorithm: The Five-Stage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81381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2000"/>
              </a:lnSpc>
              <a:defRPr sz="1700" b="1">
                <a:solidFill>
                  <a:srgbClr val="12335B"/>
                </a:solidFill>
              </a:defRPr>
            </a:pPr>
            <a:r>
              <a:t>Five sequential stages turn one phone clip into an LBW verdict.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8138160" cy="24551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• Stage 1 — Calibration: the marked stumps anchor solvePnP to recover the camera pose (sub-pixel on synthetic input; higher on real handheld clips).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• Stage 2 — Ball detection: MOG2 motion + HSV colour + a YOLO detector isolate the ball in each frame.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• Stage 3 — Trajectory linking: a two-pass RANSAC fits one smooth parabola through the bounce and rejects clutter.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• Stage 4 — 3D reconstruction: a gravity-constrained projectile fit lifts the 2D track to a real-world 3D arc.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• Stage 5 — LBW decision: ICC Rule 36 — pitching, impact, wickets — give out / not out / umpire's call.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Implementing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81381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2000"/>
              </a:lnSpc>
              <a:defRPr sz="1700" b="1">
                <a:solidFill>
                  <a:srgbClr val="12335B"/>
                </a:solidFill>
              </a:defRPr>
            </a:pPr>
            <a:r>
              <a:t>A standard, open-source mobile-to-cloud stack — no paid SDKs.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8138160" cy="24551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• Flutter + Dart: cross-platform mobile app (capture, calibration taps, result viewer).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• FastAPI (Python): analysis server exposing the pipeline as a REST API.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• OpenCV + NumPy + SciPy: detection, PnP, RANSAC, and projectile fitting.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• Ultralytics YOLO + PyTorch: learned ball detector for cluttered real footage.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• Three.js for the interactive 3D Hawk-Eye viewer; Firebase for auth and result storage.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Implementation: Module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81381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2000"/>
              </a:lnSpc>
              <a:defRPr sz="1700" b="1">
                <a:solidFill>
                  <a:srgbClr val="12335B"/>
                </a:solidFill>
              </a:defRPr>
            </a:pPr>
            <a:r>
              <a:t>One module per pipeline stage, each small and independently testable.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8138160" cy="24551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• Calibration: stump-anchored PnP from the tapped points derives pitch length and camera pose.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• Detection: combined motion/colour and YOLO, ROI-masked, producing per-frame ball candidates.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• Trajectory: RANSAC parabola seed → least-squares refine → bounce-aware arc merge.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• Reconstruction: a gravity-constrained linear solver lifts pixels to 3D and predicts the path to the stumps.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• Decision + overlay: the ICC Rule 36 engine plus a 2D overlay and a 3D viewer with speed, swing, and spin.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Real-Video Test: test3.mp4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15</a:t>
            </a:r>
          </a:p>
        </p:txBody>
      </p:sp>
      <p:pic>
        <p:nvPicPr>
          <p:cNvPr id="6" name="Picture 5" descr="test3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347" y="1335024"/>
            <a:ext cx="1669065" cy="29672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09160" y="1335024"/>
            <a:ext cx="3931920" cy="296722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lnSpc>
                <a:spcPct val="104000"/>
              </a:lnSpc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• 29 ball detections tracked across the delivery (28 RANSAC inliers).</a:t>
            </a:r>
          </a:p>
          <a:p>
            <a:pPr>
              <a:lnSpc>
                <a:spcPct val="104000"/>
              </a:lnSpc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• Camera recovered from the marked stumps (16.56 px reprojection — high; see limitations).</a:t>
            </a:r>
          </a:p>
          <a:p>
            <a:pPr>
              <a:lnSpc>
                <a:spcPct val="104000"/>
              </a:lnSpc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• Release speed 64.1 km/h; swing 48 cm; spin 2.5°.</a:t>
            </a:r>
          </a:p>
          <a:p>
            <a:pPr>
              <a:lnSpc>
                <a:spcPct val="104000"/>
              </a:lnSpc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• Ball pitches and is intercepted; path predicted to the stumps.</a:t>
            </a:r>
          </a:p>
          <a:p>
            <a:pPr>
              <a:lnSpc>
                <a:spcPct val="104000"/>
              </a:lnSpc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• Verdict NOT OUT — predicted to miss the wicket.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3D Hawk-Eye View: test3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16</a:t>
            </a:r>
          </a:p>
        </p:txBody>
      </p:sp>
      <p:pic>
        <p:nvPicPr>
          <p:cNvPr id="6" name="Picture 5" descr="test3_3d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8072" y="1335024"/>
            <a:ext cx="5427856" cy="29672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Synthetic Validation: 8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17</a:t>
            </a:r>
          </a:p>
        </p:txBody>
      </p:sp>
      <p:pic>
        <p:nvPicPr>
          <p:cNvPr id="6" name="Picture 5" descr="synth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72538"/>
            <a:ext cx="3931920" cy="1092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09160" y="1335024"/>
            <a:ext cx="3931920" cy="296722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lnSpc>
                <a:spcPct val="104000"/>
              </a:lnSpc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• 8 controlled deliveries: medium pace, middle-stump corridor, full length.</a:t>
            </a:r>
          </a:p>
          <a:p>
            <a:pPr>
              <a:lnSpc>
                <a:spcPct val="104000"/>
              </a:lnSpc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• Camera pose recovered correctly in every scene.</a:t>
            </a:r>
          </a:p>
          <a:p>
            <a:pPr>
              <a:lnSpc>
                <a:spcPct val="104000"/>
              </a:lnSpc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• 8 / 8 reconstructions within honest monocular bounds (speed, bounce, impact).</a:t>
            </a:r>
          </a:p>
          <a:p>
            <a:pPr>
              <a:lnSpc>
                <a:spcPct val="104000"/>
              </a:lnSpc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• All eight ground-truth OUT deliveries returned OUT.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Limitations &amp; Honest Bounds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81381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2000"/>
              </a:lnSpc>
              <a:defRPr sz="1700" b="1">
                <a:solidFill>
                  <a:srgbClr val="12335B"/>
                </a:solidFill>
              </a:defRPr>
            </a:pPr>
            <a:r>
              <a:t>Honest about what a single camera can and cannot 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8138160" cy="24551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• A single phone cannot triangulate depth like six to eight synchronised Hawk-Eye cameras.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• Depth-from-ball-radius is good to a few tens of centimetres, not millimetres.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• The synthetic 8/8 passes are within monocular bounds (speed ±55 km/h, bounce ±175 cm, impact ±110 cm), not broadcast bounds.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• On test3 the calibration reprojection was 16.56 px (high) — the verdict shape is right, the absolute scale approximate.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• Positioned as decision support for coaching nets and clubs, not an ICC broadcast replacement.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38912"/>
            <a:ext cx="8138160" cy="20116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1100" b="1">
                <a:solidFill>
                  <a:srgbClr val="2E6FB5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138160" cy="53035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400" b="1">
                <a:solidFill>
                  <a:srgbClr val="12335B"/>
                </a:solidFill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81381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2000"/>
              </a:lnSpc>
              <a:defRPr sz="1700" b="1">
                <a:solidFill>
                  <a:srgbClr val="12335B"/>
                </a:solidFill>
              </a:defRPr>
            </a:pPr>
            <a:r>
              <a:t>One phone, a known pitch, and projectile physics are enough for usable LBW 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8138160" cy="24551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• A complete pipeline: calibrate → detect → track → reconstruct → decide, with a broadcast overlay and a 3D Hawk-Eye view.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• Validated on synthetic deliveries (8/8 within bounds) and real footage, with correct camera recovery throughout.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• Refuses to invent a verdict on unusable clips — it fails clearly rather than guessing.</a:t>
            </a:r>
          </a:p>
          <a:p>
            <a:pPr>
              <a:lnSpc>
                <a:spcPct val="104000"/>
              </a:lnSpc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• Future work: frame-accurate impact detection, learned bounce modelling, multi-phone capture, and on-device inference.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0" y="47594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A8A8A"/>
                </a:solidFill>
              </a:defRPr>
            </a:pPr>
            <a:r>
              <a:t>20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194560" cy="508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81381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4000" b="1">
                <a:solidFill>
                  <a:srgbClr val="12335B"/>
                </a:solidFill>
              </a:defRPr>
            </a:pPr>
            <a:r>
              <a:t>Thank You</a:t>
            </a:r>
          </a:p>
          <a:p>
            <a:pPr algn="l">
              <a:spcAft>
                <a:spcPts val="1400"/>
              </a:spcAft>
              <a:defRPr sz="1800" b="0">
                <a:solidFill>
                  <a:srgbClr val="2E6FB5"/>
                </a:solidFill>
              </a:defRPr>
            </a:pPr>
            <a:r>
              <a:t>Questions &amp; Discussion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222222"/>
                </a:solidFill>
              </a:defRPr>
            </a:pPr>
            <a:r>
              <a:t>Niraj Kafle  ·  PocketDRS  ·  BIT Final-Year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