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logo" id="9" name="Google Shape;9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4508225" y="4489238"/>
            <a:ext cx="15240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/>
          <p:nvPr/>
        </p:nvSpPr>
        <p:spPr>
          <a:xfrm>
            <a:off x="-45650" y="-23400"/>
            <a:ext cx="9144000" cy="393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-9675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FINAL PROJECT DEFENSE | BIT</a:t>
            </a:r>
            <a:endParaRPr sz="1800">
              <a:solidFill>
                <a:schemeClr val="lt1"/>
              </a:solidFill>
            </a:endParaRPr>
          </a:p>
        </p:txBody>
      </p:sp>
      <p:pic>
        <p:nvPicPr>
          <p:cNvPr id="12" name="Google Shape;12;p1" title="logo-removebg-preview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351800" y="4240213"/>
            <a:ext cx="926675" cy="926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/>
          <p:nvPr/>
        </p:nvSpPr>
        <p:spPr>
          <a:xfrm>
            <a:off x="39326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BATCH 2022</a:t>
            </a:r>
            <a:r>
              <a:rPr i="1" lang="en-GB" sz="1800">
                <a:solidFill>
                  <a:schemeClr val="lt1"/>
                </a:solidFill>
              </a:rPr>
              <a:t> </a:t>
            </a:r>
            <a:endParaRPr i="1" sz="1800">
              <a:solidFill>
                <a:schemeClr val="lt1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813816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4400" b="1">
                <a:solidFill>
                  <a:srgbClr val="12335B"/>
                </a:solidFill>
              </a:defRPr>
            </a:pPr>
            <a:r>
              <a:t>PocketDRS</a:t>
            </a:r>
          </a:p>
          <a:p>
            <a:pPr algn="ctr">
              <a:spcAft>
                <a:spcPts val="0"/>
              </a:spcAft>
              <a:defRPr sz="1800" b="0">
                <a:solidFill>
                  <a:srgbClr val="202020"/>
                </a:solidFill>
              </a:defRPr>
            </a:pPr>
            <a:r>
              <a:t>A Single-View 3D Trajectory Reconstruction</a:t>
            </a:r>
          </a:p>
          <a:p>
            <a:pPr algn="ctr">
              <a:spcAft>
                <a:spcPts val="1600"/>
              </a:spcAft>
              <a:defRPr sz="1800" b="0">
                <a:solidFill>
                  <a:srgbClr val="202020"/>
                </a:solidFill>
              </a:defRPr>
            </a:pPr>
            <a:r>
              <a:t>and Decision Review System for Cricket</a:t>
            </a:r>
          </a:p>
          <a:p>
            <a:pPr algn="ctr">
              <a:spcAft>
                <a:spcPts val="1400"/>
              </a:spcAft>
              <a:defRPr sz="1400" b="1">
                <a:solidFill>
                  <a:srgbClr val="2E6FB5"/>
                </a:solidFill>
              </a:defRPr>
            </a:pPr>
            <a:r>
              <a:t>Final-Year Project Defense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202020"/>
                </a:solidFill>
              </a:defRPr>
            </a:pPr>
            <a:r>
              <a:t>Niraj Kafle  |  BIT 7th Semester  |  ID: LC0003001674</a:t>
            </a:r>
          </a:p>
          <a:p>
            <a:pPr algn="ctr">
              <a:spcAft>
                <a:spcPts val="400"/>
              </a:spcAft>
              <a:defRPr sz="1400" b="0">
                <a:solidFill>
                  <a:srgbClr val="202020"/>
                </a:solidFill>
              </a:defRPr>
            </a:pPr>
            <a:r>
              <a:t>Supervisor: Mr. Saishab Bhattarai</a:t>
            </a:r>
          </a:p>
          <a:p>
            <a:pPr algn="ctr">
              <a:spcAft>
                <a:spcPts val="400"/>
              </a:spcAft>
              <a:defRPr sz="1300" b="0">
                <a:solidFill>
                  <a:srgbClr val="555555"/>
                </a:solidFill>
              </a:defRPr>
            </a:pPr>
            <a:r>
              <a:t>Phoenix College of Management, Maitidevi, Kathmandu</a:t>
            </a:r>
          </a:p>
          <a:p>
            <a:pPr algn="ctr">
              <a:spcAft>
                <a:spcPts val="0"/>
              </a:spcAft>
              <a:defRPr sz="1200" b="0">
                <a:solidFill>
                  <a:srgbClr val="555555"/>
                </a:solidFill>
              </a:defRPr>
            </a:pPr>
            <a:r>
              <a:t>Lincoln University College, Faculty of Computer Science and Multimedia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555555"/>
                </a:solidFill>
              </a:defRPr>
            </a:pPr>
            <a:r>
              <a:t>May,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Introduction &amp; 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Cricket relies on tech to review close LBW decisions, Hawk-Eye uses 6–8 synchronised high-speed cameras.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Hawk-Eye is accurate (3–5 mm) but unaffordable for schools, clubs, nets.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Single phone camera makes the problem hard: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No direct depth from one view; ball is small, fast, motion-blurred.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Small calibration errors blow up at the far end of the pitch.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Question: can a single-camera workflow + pitch geometry give consistent LBW review support?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Objectives, Scope,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Goal: low-cost single-camera system that analyses a delivery and assists LBW review.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Specific objectives: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User-guided pitch-corner calibration; ball detection + trajectory association.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Camera pose + monocular 3D reconstruction; ICC Rule 36 LBW logic; interactive 3D viewer.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Limitations: umpire-POV camera; not ICC-certified; monocular depth fundamentally limited.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Decision support only, umpire still calls the game.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Literature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Owens et al. (2003), original Hawk-Eye (multi-camera ball tracking), accuracy benchmark.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Zhang (2000), checkerboard camera calibration → intrinsic-model foundation.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Hartley &amp; Zisserman (2004), multiple-view geometry → homography theory.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Fischler &amp; Bolles (1981), RANSAC → used for homography + trajectory association.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Triggs et al. (2000), bundle adjustment → motivates least-squares projectile fit.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Ponglertnapakorn &amp; Suwajanakorn (CVPRW 2025), closest prior work (single-view 3D ball).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Zivkovic (2004) MOG2 + Redmon et al. (2016) YOLO → motion + learned detectors.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ER Diagram + Data Flow Diagrams</a:t>
            </a:r>
          </a:p>
          <a:p>
            <a:pPr>
              <a:defRPr sz="1300" i="1">
                <a:solidFill>
                  <a:srgbClr val="555555"/>
                </a:solidFill>
              </a:defRPr>
            </a:pPr>
            <a:r>
              <a:t>Structured approach: data model + 2-level DFD (no OO diagrams per syllabus).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889" y="1234440"/>
            <a:ext cx="1905901" cy="27477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982212"/>
            <a:ext cx="2529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02020"/>
                </a:solidFill>
              </a:defRPr>
            </a:pPr>
            <a:r>
              <a:t>ER Diagram</a:t>
            </a:r>
          </a:p>
        </p:txBody>
      </p:sp>
      <p:pic>
        <p:nvPicPr>
          <p:cNvPr id="6" name="Picture 5" descr="dfd_level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080" y="2383601"/>
            <a:ext cx="2529840" cy="449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07080" y="3982212"/>
            <a:ext cx="2529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02020"/>
                </a:solidFill>
              </a:defRPr>
            </a:pPr>
            <a:r>
              <a:t>DFD Level 0 (context)</a:t>
            </a:r>
          </a:p>
        </p:txBody>
      </p:sp>
      <p:pic>
        <p:nvPicPr>
          <p:cNvPr id="8" name="Picture 7" descr="dfd_leve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4708" y="1234440"/>
            <a:ext cx="1902903" cy="27477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11240" y="3982212"/>
            <a:ext cx="2529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02020"/>
                </a:solidFill>
              </a:defRPr>
            </a:pPr>
            <a:r>
              <a:t>DFD Level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System Architecture + Physical DFD</a:t>
            </a:r>
          </a:p>
          <a:p>
            <a:pPr>
              <a:defRPr sz="1300" i="1">
                <a:solidFill>
                  <a:srgbClr val="555555"/>
                </a:solidFill>
              </a:defRPr>
            </a:pPr>
            <a:r>
              <a:t>Flutter app → HTTPS → FastAPI on Cloud Run → Firestore + Cloud Storage; Three.js viewer in WebView.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218" y="1234440"/>
            <a:ext cx="2097324" cy="27477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982212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02020"/>
                </a:solidFill>
              </a:defRPr>
            </a:pPr>
            <a:r>
              <a:t>3-Tier Architecture</a:t>
            </a:r>
          </a:p>
        </p:txBody>
      </p:sp>
      <p:pic>
        <p:nvPicPr>
          <p:cNvPr id="6" name="Picture 5" descr="physical_d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592350"/>
            <a:ext cx="3931920" cy="2031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3982212"/>
            <a:ext cx="3931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02020"/>
                </a:solidFill>
              </a:defRPr>
            </a:pPr>
            <a:r>
              <a:t>Physical DFD (deployed)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Requirements (Functional + Non-Functional)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Functional: auth (Firebase); record/trim video; tap 4 pitch corners; save calibration.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Submit clip → server detects ball, reconstructs 3D, returns LBW verdict + reason.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Interactive 3D viewer; analysis history.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Non-functional: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Response ≤ 30 s for a 5-s clip; accuracy &lt; 80 cm position error (synthetic).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Offline calibration; HTTPS + Firestore privacy rules; Android 6+/iOS 12+ via Flutter.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Usability: first analysis in &lt; 5 minutes.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Algorithm, the 5-Step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1.  Camera pose from 4 tapped pitch corners (PnP, reject below-ground mirror).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2.  Ball detection per frame, motion (MOG2) + colour (HSV), or YOLO on real clips.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Fixed-clutter suppression: drop anything sitting in same pixel &gt; 30% of frames.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3.  Trajectory association, RANSAC links detections into one projectile path.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4.  3D reconstruction, depth-from-size + projectile fit, anchored at the bounce.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Quality gate: fit RMS &gt; 0.75 m ⇒ discard (no fake verdict).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5.  LBW decision, ICC Rule 36 (pitched, impact, hitting) + ±2.5 cm umpire's-call band.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Step 1, Camera Pose (PnP)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Input: 4 pitch corners (user-tapped) + known real-world pitch size.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Output: where the phone stood + which way it pointed.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Method: Perspective-n-Point, pose whose projected corners match the tapped pixels.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Edge case: planar PnP has a twofold mirror, reject the below-ground answer.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Verified: 0.00 px reprojection error on every synthetic scenario.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Step 2, Ball Detection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Two independent detectors per frame: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Motion (MOG2): accepts round blobs AND short streaks (fast ball blurs).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Colour (HSV): looks for the ball's tone (red / white).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Agreement between the two boosts confidence.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Fixed-clutter suppression, same pixel &gt; 30% of frames ⇒ background, not the ball.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Real handheld clips additionally use a learned YOLO cricket-ball detector.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Step 3, Trajectory Association (RANSAC)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Input: candidate detections from Step 2 (mix of real ball + false positives).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RANSAC: try pairs → fit projectile path → count inliers → keep the best.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Phone-shot-from-behind specifics: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Measure TOTAL motion across the clip (ball moves towards camera, per-frame motion tiny).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Reject tracks covering &lt; 20% of image width, leftover clutter, not a real delivery.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Output: one consistent path + inlier count + fit RMS.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Step 4, 3D Reconstruction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Input: 2D ball path (Step 3) + camera pose (Step 1).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Depth-from-size: cricket ball always 0.036 m radius → smaller in image ⇒ further away.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Rough 3D points → fitted to projectile motion (gravity 9.81 m/s²).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Bounce anchor: bounce pixel back-projected onto pitch plane, the most reliable single point.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Physical bounds on release height + downward velocity prevent impossible solutions.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Quality gate: fit RMS &gt; 0.75 m ⇒ discard reconstruction (return warning, no fake verdict).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Step 5, LBW Decision (ICC Rule 36)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Three checks, in order: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Pitched in line?  Bounce inside leg-stump line + tolerance.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Impact in line?  Pad strike inside stump line + ball radius.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Hitting stumps?  Project path on to the stump plane.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All three pass ⇒ OUT; inside ±2.5 cm margin ⇒ UMPIRE'S CALL; else NOT OUT.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Vertical band widened to 7.2 cm (one ball-diameter) to reflect monocular depth noise.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Plain-English reason returned with every verdict.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Tools &amp;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Mobile: Flutter 3.8 (Dart), capture, trim, calibration canvas, REST client, WebView.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Backend: FastAPI on Google Cloud Run, async job manager.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Computer vision: OpenCV 4.8, NumPy 1.24, SciPy 1.11; Ultralytics YOLO.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Data: Firebase Auth + Cloud Firestore + Cloud Storage.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Visualisation: Three.js Hawk-Eye viewer inside a Flutter WebView.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Backend modules per algorithm step; mobile modules per UI screen (testable in isolation).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Robustness / Edge-Case Hardening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 review pass made the system fail safely, never confidently-wrong: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Truncated video headers, decoder stops at last real frame, no padding.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Bad calibration (collinear / duplicate corners), rejected with a clear message.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Invalid numbers (negative dims, NaN detections), caught at input boundary.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Network / token failures in app, clean error after retries, no infinite polling.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3D viewer, non-finite values coerced; reload prompt if scripts never load.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Net effect: correct result, or clear/safe failure, never a fake verdict.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Testing, 20 Unit + 12 System (all pass)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Unit (20): calibration (4), detection (4), trajectory (3), reconstruction (2), LBW (5), hardening (1), API (1).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Edge cases covered: twofold-mirror, degenerate corners, fixed-clutter, motion-blur streak, quality gate.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System (12): all 3 verdict classes; bad real clip; good real clip; truncated video; session recovery; viewer safety.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Status: 20 / 20 unit + 12 / 12 system pass on the deployed build.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Synthetic Validation, 66 deliveries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Controlled OpenCV harness: textured pitch, crease lines, red ball; 1080×1920 @ 60 fps.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Sweep: 3 release speeds × 11 release lines × 2 angles = 66 scenarios.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Camera calibration: 0.00 px reprojection error on every scenario.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Detection: 60–130 candidates / scenario; RANSAC keeps ~95% inliers; image-RMS 10–25 px.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LBW decisions: 53 / 66 correct (80.3%):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OUT 16 / 16 (100%); NOT OUT 36 / 44 (81.8%); Umpire's Call 1 / 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Result Renders, Three LBW Verdicts</a:t>
            </a:r>
          </a:p>
          <a:p>
            <a:pPr>
              <a:defRPr sz="1300" i="1">
                <a:solidFill>
                  <a:srgbClr val="555555"/>
                </a:solidFill>
              </a:defRPr>
            </a:pPr>
            <a:r>
              <a:t>Real Three.js viewer renders from real pipeline output (synthetic sweep).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se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97" y="1234440"/>
            <a:ext cx="1373886" cy="27477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982212"/>
            <a:ext cx="2529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02020"/>
                </a:solidFill>
              </a:defRPr>
            </a:pPr>
            <a:r>
              <a:t>OUT</a:t>
            </a:r>
          </a:p>
        </p:txBody>
      </p:sp>
      <p:pic>
        <p:nvPicPr>
          <p:cNvPr id="6" name="Picture 5" descr="case_not_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057" y="1234440"/>
            <a:ext cx="1373886" cy="27477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07080" y="3982212"/>
            <a:ext cx="2529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02020"/>
                </a:solidFill>
              </a:defRPr>
            </a:pPr>
            <a:r>
              <a:t>NOT OUT</a:t>
            </a:r>
          </a:p>
        </p:txBody>
      </p:sp>
      <p:pic>
        <p:nvPicPr>
          <p:cNvPr id="8" name="Picture 7" descr="case_umpires_c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9217" y="1234440"/>
            <a:ext cx="1373886" cy="27477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11240" y="3982212"/>
            <a:ext cx="25298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202020"/>
                </a:solidFill>
              </a:defRPr>
            </a:pPr>
            <a:r>
              <a:t>Umpire's Call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Real-World Validation, bad clip vs good clip</a:t>
            </a:r>
          </a:p>
          <a:p>
            <a:pPr>
              <a:defRPr sz="1300" i="1">
                <a:solidFill>
                  <a:srgbClr val="555555"/>
                </a:solidFill>
              </a:defRPr>
            </a:pPr>
            <a:r>
              <a:t>Bowler's release (green) → arrival at the batter (red).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t3_path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353" y="1234440"/>
            <a:ext cx="1710213" cy="3040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54880" y="1234440"/>
            <a:ext cx="3743553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1500">
                <a:solidFill>
                  <a:srgbClr val="202020"/>
                </a:solidFill>
              </a:defRPr>
            </a:pPr>
            <a:r>
              <a:t>•  Clip 1 (bad): low camera + netting + clutter ⇒ system safely refused, no fake verdict.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500">
                <a:solidFill>
                  <a:srgbClr val="202020"/>
                </a:solidFill>
              </a:defRPr>
            </a:pPr>
            <a:r>
              <a:t>•  Clip 2 (good, shown): off-spin (flighted), ball stays visible above the bowler.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500">
                <a:solidFill>
                  <a:srgbClr val="202020"/>
                </a:solidFill>
              </a:defRPr>
            </a:pPr>
            <a:r>
              <a:t>•  YOLO + RANSAC: 25 ball positions, 22 inliers, image-RMS 14.4 px.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500">
                <a:solidFill>
                  <a:srgbClr val="202020"/>
                </a:solidFill>
              </a:defRPr>
            </a:pPr>
            <a:r>
              <a:t>•  Fixed-clutter suppression removed a recurring red false-positive.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500">
                <a:solidFill>
                  <a:srgbClr val="202020"/>
                </a:solidFill>
              </a:defRPr>
            </a:pPr>
            <a:r>
              <a:t>•  Truncation guard stopped at frame 101 (header claimed 290).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500">
                <a:solidFill>
                  <a:srgbClr val="202020"/>
                </a:solidFill>
              </a:defRPr>
            </a:pPr>
            <a:r>
              <a:t>•  Same unchanged pipeline produced a clean full-flight 2D track + plausible 3D arc.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Conclusion + Lessons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Full single-camera LBW pipeline: calibrate → detect → track → 3D → decide → visualise.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Synthetic: 53 / 66 correct (80.3%); OUT class 16 / 16 (100%).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Real clip (good): clean track + plausible 3D arc. Real clip (bad): safe refusal.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Lessons: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Strong physical constraints beat raw ML on small data.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User calibration is the single biggest accuracy driver.</a:t>
            </a:r>
          </a:p>
          <a:p>
            <a:pPr lvl="1">
              <a:lnSpc>
                <a:spcPct val="108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Fail-safe behaviour matters more than coverage for a decision-support tool.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Future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Multi-camera fusion (stereo / two phones), removes depth ambiguity entirely.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Learned detection by default, make YOLO the primary detector.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Automatic landmark detection, find stumps / crease lines instead of asking the user.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Real-time streaming + on-device inference.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Better bounce model (drag / spin) + statistical confidence intervals.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Field user studies with umpires and players.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Thank You, 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PocketDRS: a phone, a tripod, and the geometry of a cricket pitch.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Niraj Kafle, BIT 7th Semester, Phoenix College of Management.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Supervisor: Mr. Saishab Bhattarai.</a:t>
            </a:r>
          </a:p>
          <a:p>
            <a:pPr>
              <a:lnSpc>
                <a:spcPct val="108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Final report, defense-prep guide, and demo clips available on request.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