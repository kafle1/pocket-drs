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6" name="Google Shape;16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7" name="Google Shape;17;p2"/>
          <p:cNvSpPr txBox="1"/>
          <p:nvPr>
            <p:ph idx="12" type="sldNum"/>
          </p:nvPr>
        </p:nvSpPr>
        <p:spPr>
          <a:xfrm>
            <a:off x="8426808" y="46398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8426808" y="46398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266050" y="4216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266050" y="11290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2" type="sldNum"/>
          </p:nvPr>
        </p:nvSpPr>
        <p:spPr>
          <a:xfrm>
            <a:off x="8426808" y="46398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/>
          <p:nvPr>
            <p:ph type="title"/>
          </p:nvPr>
        </p:nvSpPr>
        <p:spPr>
          <a:xfrm>
            <a:off x="266050" y="4216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5"/>
          <p:cNvSpPr txBox="1"/>
          <p:nvPr>
            <p:ph idx="12" type="sldNum"/>
          </p:nvPr>
        </p:nvSpPr>
        <p:spPr>
          <a:xfrm>
            <a:off x="8426808" y="46398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6"/>
          <p:cNvSpPr txBox="1"/>
          <p:nvPr>
            <p:ph type="title"/>
          </p:nvPr>
        </p:nvSpPr>
        <p:spPr>
          <a:xfrm>
            <a:off x="266050" y="4216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6"/>
          <p:cNvSpPr txBox="1"/>
          <p:nvPr>
            <p:ph idx="12" type="sldNum"/>
          </p:nvPr>
        </p:nvSpPr>
        <p:spPr>
          <a:xfrm>
            <a:off x="8426808" y="46398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6" name="Google Shape;36;p7"/>
          <p:cNvSpPr txBox="1"/>
          <p:nvPr>
            <p:ph idx="12" type="sldNum"/>
          </p:nvPr>
        </p:nvSpPr>
        <p:spPr>
          <a:xfrm>
            <a:off x="8426808" y="46398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9" name="Google Shape;39;p8"/>
          <p:cNvSpPr txBox="1"/>
          <p:nvPr>
            <p:ph idx="12" type="sldNum"/>
          </p:nvPr>
        </p:nvSpPr>
        <p:spPr>
          <a:xfrm>
            <a:off x="8426808" y="46398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3" name="Google Shape;43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4" name="Google Shape;44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5" name="Google Shape;45;p9"/>
          <p:cNvSpPr txBox="1"/>
          <p:nvPr>
            <p:ph idx="12" type="sldNum"/>
          </p:nvPr>
        </p:nvSpPr>
        <p:spPr>
          <a:xfrm>
            <a:off x="8426808" y="46398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8" name="Google Shape;48;p10"/>
          <p:cNvSpPr txBox="1"/>
          <p:nvPr>
            <p:ph idx="12" type="sldNum"/>
          </p:nvPr>
        </p:nvSpPr>
        <p:spPr>
          <a:xfrm>
            <a:off x="8426808" y="46398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51" name="Google Shape;51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2" name="Google Shape;52;p11"/>
          <p:cNvSpPr txBox="1"/>
          <p:nvPr>
            <p:ph idx="12" type="sldNum"/>
          </p:nvPr>
        </p:nvSpPr>
        <p:spPr>
          <a:xfrm>
            <a:off x="8426808" y="46398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2"/>
          <p:cNvSpPr txBox="1"/>
          <p:nvPr>
            <p:ph idx="12" type="sldNum"/>
          </p:nvPr>
        </p:nvSpPr>
        <p:spPr>
          <a:xfrm>
            <a:off x="8426808" y="46398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Relationship Id="rId9" Type="http://schemas.openxmlformats.org/officeDocument/2006/relationships/slideLayout" Target="../slideLayouts/slideLayout7.xml"/><Relationship Id="rId10" Type="http://schemas.openxmlformats.org/officeDocument/2006/relationships/slideLayout" Target="../slideLayouts/slideLayout8.xml"/><Relationship Id="rId11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1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266050" y="4216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266050" y="11290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26808" y="46398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descr="logo" id="9" name="Google Shape;9;p1"/>
          <p:cNvPicPr preferRelativeResize="0"/>
          <p:nvPr/>
        </p:nvPicPr>
        <p:blipFill>
          <a:blip r:embed="rId1">
            <a:alphaModFix/>
          </a:blip>
          <a:stretch>
            <a:fillRect/>
          </a:stretch>
        </p:blipFill>
        <p:spPr>
          <a:xfrm>
            <a:off x="4508225" y="4489238"/>
            <a:ext cx="1524000" cy="428625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1"/>
          <p:cNvSpPr/>
          <p:nvPr/>
        </p:nvSpPr>
        <p:spPr>
          <a:xfrm>
            <a:off x="-45650" y="-23400"/>
            <a:ext cx="9144000" cy="393600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" name="Google Shape;11;p1"/>
          <p:cNvSpPr txBox="1"/>
          <p:nvPr/>
        </p:nvSpPr>
        <p:spPr>
          <a:xfrm>
            <a:off x="-967575" y="-23400"/>
            <a:ext cx="58182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lt1"/>
                </a:solidFill>
              </a:rPr>
              <a:t>FINAL PROJECT DEFENSE | BIT</a:t>
            </a:r>
            <a:endParaRPr sz="1800">
              <a:solidFill>
                <a:schemeClr val="lt1"/>
              </a:solidFill>
            </a:endParaRPr>
          </a:p>
        </p:txBody>
      </p:sp>
      <p:pic>
        <p:nvPicPr>
          <p:cNvPr id="12" name="Google Shape;12;p1" title="logo-removebg-preview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3351800" y="4240213"/>
            <a:ext cx="926675" cy="926675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1"/>
          <p:cNvSpPr txBox="1"/>
          <p:nvPr/>
        </p:nvSpPr>
        <p:spPr>
          <a:xfrm>
            <a:off x="3932675" y="-23400"/>
            <a:ext cx="58182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lt1"/>
                </a:solidFill>
              </a:rPr>
              <a:t>BATCH 2022</a:t>
            </a:r>
            <a:r>
              <a:rPr i="1" lang="en-GB" sz="1800">
                <a:solidFill>
                  <a:schemeClr val="lt1"/>
                </a:solidFill>
              </a:rPr>
              <a:t> </a:t>
            </a:r>
            <a:endParaRPr i="1" sz="1800">
              <a:solidFill>
                <a:schemeClr val="lt1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3"/>
    <p:sldLayoutId id="2147483649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280160"/>
            <a:ext cx="8138160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  <a:defRPr sz="4000" b="1">
                <a:solidFill>
                  <a:srgbClr val="12335B"/>
                </a:solidFill>
              </a:defRPr>
            </a:pPr>
            <a:r>
              <a:t>PocketDRS</a:t>
            </a:r>
          </a:p>
          <a:p>
            <a:pPr algn="ctr">
              <a:spcAft>
                <a:spcPts val="0"/>
              </a:spcAft>
              <a:defRPr sz="1800" b="0">
                <a:solidFill>
                  <a:srgbClr val="202020"/>
                </a:solidFill>
              </a:defRPr>
            </a:pPr>
            <a:r>
              <a:t>A Single-View 3D Trajectory Reconstruction and</a:t>
            </a:r>
          </a:p>
          <a:p>
            <a:pPr algn="ctr">
              <a:spcAft>
                <a:spcPts val="1400"/>
              </a:spcAft>
              <a:defRPr sz="1800" b="0">
                <a:solidFill>
                  <a:srgbClr val="202020"/>
                </a:solidFill>
              </a:defRPr>
            </a:pPr>
            <a:r>
              <a:t>Decision Review System for Cricket</a:t>
            </a:r>
          </a:p>
          <a:p>
            <a:pPr algn="ctr">
              <a:spcAft>
                <a:spcPts val="200"/>
              </a:spcAft>
              <a:defRPr sz="1600" b="0">
                <a:solidFill>
                  <a:srgbClr val="202020"/>
                </a:solidFill>
              </a:defRPr>
            </a:pPr>
            <a:r>
              <a:t>Niraj Kafle, BIT (LC0003001674)</a:t>
            </a:r>
          </a:p>
          <a:p>
            <a:pPr algn="ctr">
              <a:spcAft>
                <a:spcPts val="200"/>
              </a:spcAft>
              <a:defRPr sz="1500" b="0">
                <a:solidFill>
                  <a:srgbClr val="202020"/>
                </a:solidFill>
              </a:defRPr>
            </a:pPr>
            <a:r>
              <a:t>Supervisor: Mr. Saishab Bhattarai</a:t>
            </a:r>
          </a:p>
          <a:p>
            <a:pPr algn="ctr">
              <a:spcAft>
                <a:spcPts val="0"/>
              </a:spcAft>
              <a:defRPr sz="1500" b="0">
                <a:solidFill>
                  <a:srgbClr val="2E6FB5"/>
                </a:solidFill>
              </a:defRPr>
            </a:pPr>
            <a:r>
              <a:t>Phoenix College of Management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138160" cy="7772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defRPr sz="2600" b="1">
                <a:solidFill>
                  <a:srgbClr val="12335B"/>
                </a:solidFill>
              </a:defRPr>
            </a:pPr>
            <a:r>
              <a:t>Introduction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201168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3040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Cricket officiating increasingly relies on technology for close LBW decisions.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Professional systems (e.g. Hawk-Eye) use 6 to 8 synchronised high-speed cameras.</a:t>
            </a:r>
          </a:p>
          <a:p>
            <a:pPr lvl="1">
              <a:lnSpc>
                <a:spcPct val="105000"/>
              </a:lnSpc>
              <a:spcAft>
                <a:spcPts val="300"/>
              </a:spcAft>
              <a:defRPr sz="1400">
                <a:solidFill>
                  <a:srgbClr val="202020"/>
                </a:solidFill>
              </a:defRPr>
            </a:pPr>
            <a:r>
              <a:t>◦  Costly, complex, and impractical for schools, clubs, and training grounds.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PocketDRS: low-cost LBW support from a single smartphone camera + a lightweight server.</a:t>
            </a:r>
          </a:p>
          <a:p>
            <a:pPr lvl="1">
              <a:lnSpc>
                <a:spcPct val="105000"/>
              </a:lnSpc>
              <a:spcAft>
                <a:spcPts val="300"/>
              </a:spcAft>
              <a:defRPr sz="1400">
                <a:solidFill>
                  <a:srgbClr val="202020"/>
                </a:solidFill>
              </a:defRPr>
            </a:pPr>
            <a:r>
              <a:t>◦  Record delivery → mark pitch corners → analyse → 3D visualisation + LBW verdict.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138160" cy="7772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defRPr sz="2600" b="1">
                <a:solidFill>
                  <a:srgbClr val="12335B"/>
                </a:solidFill>
              </a:defRPr>
            </a:pPr>
            <a:r>
              <a:t>Problem Statement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201168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3040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Professional DRS needs multiple synchronised cameras to recover depth, which is expensive and inaccessible.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A single consumer camera makes the problem hard:</a:t>
            </a:r>
          </a:p>
          <a:p>
            <a:pPr lvl="1">
              <a:lnSpc>
                <a:spcPct val="105000"/>
              </a:lnSpc>
              <a:spcAft>
                <a:spcPts val="300"/>
              </a:spcAft>
              <a:defRPr sz="1400">
                <a:solidFill>
                  <a:srgbClr val="202020"/>
                </a:solidFill>
              </a:defRPr>
            </a:pPr>
            <a:r>
              <a:t>◦  No direct depth from one view.</a:t>
            </a:r>
          </a:p>
          <a:p>
            <a:pPr lvl="1">
              <a:lnSpc>
                <a:spcPct val="105000"/>
              </a:lnSpc>
              <a:spcAft>
                <a:spcPts val="300"/>
              </a:spcAft>
              <a:defRPr sz="1400">
                <a:solidFill>
                  <a:srgbClr val="202020"/>
                </a:solidFill>
              </a:defRPr>
            </a:pPr>
            <a:r>
              <a:t>◦  Ball is small, fast, motion-blurred, easily confused with clutter.</a:t>
            </a:r>
          </a:p>
          <a:p>
            <a:pPr lvl="1">
              <a:lnSpc>
                <a:spcPct val="105000"/>
              </a:lnSpc>
              <a:spcAft>
                <a:spcPts val="300"/>
              </a:spcAft>
              <a:defRPr sz="1400">
                <a:solidFill>
                  <a:srgbClr val="202020"/>
                </a:solidFill>
              </a:defRPr>
            </a:pPr>
            <a:r>
              <a:t>◦  Small calibration errors cause large pitch-coordinate errors.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Can a single-phone workflow give consistent, understandable LBW review support?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138160" cy="7772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defRPr sz="2600" b="1">
                <a:solidFill>
                  <a:srgbClr val="12335B"/>
                </a:solidFill>
              </a:defRPr>
            </a:pPr>
            <a:r>
              <a:t>Objectives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201168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3040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General: a low-cost single-camera system that analyses a delivery and assists LBW review.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Specific objectives:</a:t>
            </a:r>
          </a:p>
          <a:p>
            <a:pPr lvl="1">
              <a:lnSpc>
                <a:spcPct val="105000"/>
              </a:lnSpc>
              <a:spcAft>
                <a:spcPts val="300"/>
              </a:spcAft>
              <a:defRPr sz="1400">
                <a:solidFill>
                  <a:srgbClr val="202020"/>
                </a:solidFill>
              </a:defRPr>
            </a:pPr>
            <a:r>
              <a:t>◦  Study existing DRS and monocular sports-tracking work.</a:t>
            </a:r>
          </a:p>
          <a:p>
            <a:pPr lvl="1">
              <a:lnSpc>
                <a:spcPct val="105000"/>
              </a:lnSpc>
              <a:spcAft>
                <a:spcPts val="300"/>
              </a:spcAft>
              <a:defRPr sz="1400">
                <a:solidFill>
                  <a:srgbClr val="202020"/>
                </a:solidFill>
              </a:defRPr>
            </a:pPr>
            <a:r>
              <a:t>◦  User-guided pitch-corner calibration.</a:t>
            </a:r>
          </a:p>
          <a:p>
            <a:pPr lvl="1">
              <a:lnSpc>
                <a:spcPct val="105000"/>
              </a:lnSpc>
              <a:spcAft>
                <a:spcPts val="300"/>
              </a:spcAft>
              <a:defRPr sz="1400">
                <a:solidFill>
                  <a:srgbClr val="202020"/>
                </a:solidFill>
              </a:defRPr>
            </a:pPr>
            <a:r>
              <a:t>◦  Detect and track the ball from delivery video.</a:t>
            </a:r>
          </a:p>
          <a:p>
            <a:pPr lvl="1">
              <a:lnSpc>
                <a:spcPct val="105000"/>
              </a:lnSpc>
              <a:spcAft>
                <a:spcPts val="300"/>
              </a:spcAft>
              <a:defRPr sz="1400">
                <a:solidFill>
                  <a:srgbClr val="202020"/>
                </a:solidFill>
              </a:defRPr>
            </a:pPr>
            <a:r>
              <a:t>◦  Map detections to pitch coordinates (homography); recover camera pose.</a:t>
            </a:r>
          </a:p>
          <a:p>
            <a:pPr lvl="1">
              <a:lnSpc>
                <a:spcPct val="105000"/>
              </a:lnSpc>
              <a:spcAft>
                <a:spcPts val="300"/>
              </a:spcAft>
              <a:defRPr sz="1400">
                <a:solidFill>
                  <a:srgbClr val="202020"/>
                </a:solidFill>
              </a:defRPr>
            </a:pPr>
            <a:r>
              <a:t>◦  Detect bounce/impact; apply rule-based LBW (ICC Rule 36).</a:t>
            </a:r>
          </a:p>
          <a:p>
            <a:pPr lvl="1">
              <a:lnSpc>
                <a:spcPct val="105000"/>
              </a:lnSpc>
              <a:spcAft>
                <a:spcPts val="300"/>
              </a:spcAft>
              <a:defRPr sz="1400">
                <a:solidFill>
                  <a:srgbClr val="202020"/>
                </a:solidFill>
              </a:defRPr>
            </a:pPr>
            <a:r>
              <a:t>◦  Present an interactive 3D visualisation of the decision.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138160" cy="7772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defRPr sz="2600" b="1">
                <a:solidFill>
                  <a:srgbClr val="12335B"/>
                </a:solidFill>
              </a:defRPr>
            </a:pPr>
            <a:r>
              <a:t>Functional Requirements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201168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3040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User authentication via Firebase (email/password or Google sign-in).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Record or select a delivery video, and trim to the delivery.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Calibrate the pitch by tapping the four corners; validate quality.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Submit the clip for server-side ball detection and 3D reconstruction.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Return an LBW decision (OUT / NOT OUT / UMPIRE'S CALL) with rationale.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Interactive 3D trajectory view and saved analysis history.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138160" cy="7772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defRPr sz="2600" b="1">
                <a:solidFill>
                  <a:srgbClr val="12335B"/>
                </a:solidFill>
              </a:defRPr>
            </a:pPr>
            <a:r>
              <a:t>Non-functional Requirements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201168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3040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Response time: process a 5-second clip within ~30 seconds.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Accuracy: synthetic-test position error under 80 cm.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Offline support: calibration and selection work offline; analysis needs connectivity.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Security: Firebase authentication; data encrypted in transit.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Cross-platform (Android / iOS), usability, maintainability, data privacy.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138160" cy="7772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defRPr sz="2600" b="1">
                <a:solidFill>
                  <a:srgbClr val="12335B"/>
                </a:solidFill>
              </a:defRPr>
            </a:pPr>
            <a:r>
              <a:t>Data Modeling: ER Diagram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201168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r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7570" y="1234440"/>
            <a:ext cx="2108859" cy="30403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138160" cy="7772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defRPr sz="2600" b="1">
                <a:solidFill>
                  <a:srgbClr val="12335B"/>
                </a:solidFill>
              </a:defRPr>
            </a:pPr>
            <a:r>
              <a:t>Process Modeling: Data Flow Diagrams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201168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fd_level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68198"/>
            <a:ext cx="3931920" cy="69854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00050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202020"/>
                </a:solidFill>
              </a:defRPr>
            </a:pPr>
            <a:r>
              <a:t>Level 0 (context)</a:t>
            </a:r>
          </a:p>
        </p:txBody>
      </p:sp>
      <p:pic>
        <p:nvPicPr>
          <p:cNvPr id="6" name="Picture 5" descr="dfd_level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7336" y="1234440"/>
            <a:ext cx="1915568" cy="27660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09160" y="400050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202020"/>
                </a:solidFill>
              </a:defRPr>
            </a:pPr>
            <a:r>
              <a:t>Level 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138160" cy="7772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defRPr sz="2600" b="1">
                <a:solidFill>
                  <a:srgbClr val="12335B"/>
                </a:solidFill>
              </a:defRPr>
            </a:pPr>
            <a:r>
              <a:t>Algorithm Details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201168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3040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1.  Camera pose: from 4 tapped pitch corners (PnP); reject the below-ground mirror.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2.  Ball detection: motion plus colour, or a learned (YOLO) detector for real footage.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3.  Trajectory association: RANSAC links detections into one smooth path.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4.  3D reconstruction: depth-from-size plus projectile-motion fit, anchored at the bounce.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5.  LBW decision: ICC Rule 36 checks (pitching, impact, hitting stumps).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138160" cy="7772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defRPr sz="2600" b="1">
                <a:solidFill>
                  <a:srgbClr val="12335B"/>
                </a:solidFill>
              </a:defRPr>
            </a:pPr>
            <a:r>
              <a:t>Implementing Tools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201168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3040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Mobile: Flutter (Dart) for capture, trim, calibration UI, and 3D WebView.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Backend: FastAPI (Python) on Google Cloud Run.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Computer vision: OpenCV, NumPy, SciPy; learned detection via Ultralytics YOLO.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Data / Auth: Firebase Authentication + Cloud Firestore.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Visualisation: Three.js (3D Hawk-Eye viewer) inside a WebView.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138160" cy="7772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defRPr sz="2600" b="1">
                <a:solidFill>
                  <a:srgbClr val="12335B"/>
                </a:solidFill>
              </a:defRPr>
            </a:pPr>
            <a:r>
              <a:t>Implementation: Module Details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201168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3040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Mobile app:</a:t>
            </a:r>
          </a:p>
          <a:p>
            <a:pPr lvl="1">
              <a:lnSpc>
                <a:spcPct val="105000"/>
              </a:lnSpc>
              <a:spcAft>
                <a:spcPts val="300"/>
              </a:spcAft>
              <a:defRPr sz="1400">
                <a:solidFill>
                  <a:srgbClr val="202020"/>
                </a:solidFill>
              </a:defRPr>
            </a:pPr>
            <a:r>
              <a:t>◦  Auth, video capture/trim, pitch-calibration canvas, REST client, 3D viewer.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Backend pipeline:</a:t>
            </a:r>
          </a:p>
          <a:p>
            <a:pPr lvl="1">
              <a:lnSpc>
                <a:spcPct val="105000"/>
              </a:lnSpc>
              <a:spcAft>
                <a:spcPts val="300"/>
              </a:spcAft>
              <a:defRPr sz="1400">
                <a:solidFill>
                  <a:srgbClr val="202020"/>
                </a:solidFill>
              </a:defRPr>
            </a:pPr>
            <a:r>
              <a:t>◦  Video decoder, ball detector, trajectory finder (RANSAC).</a:t>
            </a:r>
          </a:p>
          <a:p>
            <a:pPr lvl="1">
              <a:lnSpc>
                <a:spcPct val="105000"/>
              </a:lnSpc>
              <a:spcAft>
                <a:spcPts val="300"/>
              </a:spcAft>
              <a:defRPr sz="1400">
                <a:solidFill>
                  <a:srgbClr val="202020"/>
                </a:solidFill>
              </a:defRPr>
            </a:pPr>
            <a:r>
              <a:t>◦  Calibration / camera-pose solver (PnP + homography).</a:t>
            </a:r>
          </a:p>
          <a:p>
            <a:pPr lvl="1">
              <a:lnSpc>
                <a:spcPct val="105000"/>
              </a:lnSpc>
              <a:spcAft>
                <a:spcPts val="300"/>
              </a:spcAft>
              <a:defRPr sz="1400">
                <a:solidFill>
                  <a:srgbClr val="202020"/>
                </a:solidFill>
              </a:defRPr>
            </a:pPr>
            <a:r>
              <a:t>◦  3D reconstruction, LBW decision engine, async job manager.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138160" cy="7772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defRPr sz="2600" b="1">
                <a:solidFill>
                  <a:srgbClr val="12335B"/>
                </a:solidFill>
              </a:defRPr>
            </a:pPr>
            <a:r>
              <a:t>Results: 3D Verdict Render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201168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pp_result_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2776" y="1234440"/>
            <a:ext cx="5318448" cy="30403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8138160" cy="7772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defRPr sz="2600" b="1">
                <a:solidFill>
                  <a:srgbClr val="12335B"/>
                </a:solidFill>
              </a:defRPr>
            </a:pPr>
            <a:r>
              <a:t>Conclusion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2011680" cy="38100"/>
          </a:xfrm>
          <a:prstGeom prst="rect">
            <a:avLst/>
          </a:prstGeom>
          <a:solidFill>
            <a:srgbClr val="2E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30403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A complete single-camera LBW pipeline: calibrate → track → 3D → decision → visualise.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Synthetic validation: correct verdict on 53 / 66 deliveries (80.3%), OUT 16/16.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Calibration validated on real footage; learned (YOLO) detector tracks the ball on real clips.</a:t>
            </a:r>
          </a:p>
          <a:p>
            <a:pPr>
              <a:lnSpc>
                <a:spcPct val="105000"/>
              </a:lnSpc>
              <a:spcAft>
                <a:spcPts val="700"/>
              </a:spcAft>
              <a:defRPr sz="1700">
                <a:solidFill>
                  <a:srgbClr val="202020"/>
                </a:solidFill>
              </a:defRPr>
            </a:pPr>
            <a:r>
              <a:t>•  Not ICC-certified; future work: multi-camera fusion, on-device inference, real-time streaming.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