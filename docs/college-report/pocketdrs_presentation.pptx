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>
      <p:cViewPr varScale="1">
        <p:scale>
          <a:sx n="158" d="100"/>
          <a:sy n="158" d="100"/>
        </p:scale>
        <p:origin x="51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 descr="logo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08225" y="4489238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-45650" y="-23400"/>
            <a:ext cx="91440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9675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FINAL PROJECT DEFENSE | BIT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" name="Google Shape;12;p1" title="logo-removebg-preview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51800" y="4240213"/>
            <a:ext cx="926675" cy="9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9326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BATCH 2022</a:t>
            </a:r>
            <a:r>
              <a:rPr lang="en-GB" sz="1800" i="1">
                <a:solidFill>
                  <a:schemeClr val="lt1"/>
                </a:solidFill>
              </a:rPr>
              <a:t> </a:t>
            </a:r>
            <a:endParaRPr sz="1800" i="1">
              <a:solidFill>
                <a:schemeClr val="lt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60120"/>
            <a:ext cx="2011680" cy="508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4200" b="1">
                <a:solidFill>
                  <a:srgbClr val="12335B"/>
                </a:solidFill>
              </a:defRPr>
            </a:pPr>
            <a:r>
              <a:t>PocketDRS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A2A2A"/>
                </a:solidFill>
              </a:defRPr>
            </a:pPr>
            <a:r>
              <a:t>A Single-View 3D Trajectory Reconstruction 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  <a:defRPr sz="1700" b="0">
                <a:solidFill>
                  <a:srgbClr val="2A2A2A"/>
                </a:solidFill>
              </a:defRPr>
            </a:pPr>
            <a:r>
              <a:t>Decision Review System (DRS) for Cricket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A2A2A"/>
                </a:solidFill>
              </a:defRPr>
            </a:pPr>
            <a:r>
              <a:t>Niraj Kafle,  BIT 7th Semester,  ID LC0003001674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A2A2A"/>
                </a:solidFill>
              </a:defRPr>
            </a:pPr>
            <a:r>
              <a:t>Supervisor: Mr. Saishab Bhattarai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E6FB5"/>
                </a:solidFill>
              </a:defRPr>
            </a:pPr>
            <a:r>
              <a:t>Phoenix College of Management,  Lincoln University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0769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01    </a:t>
            </a:r>
            <a:r>
              <a:rPr sz="1600">
                <a:solidFill>
                  <a:srgbClr val="2A2A2A"/>
                </a:solidFill>
              </a:rPr>
              <a:t>Introduction and the Problem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02    </a:t>
            </a:r>
            <a:r>
              <a:rPr sz="1600">
                <a:solidFill>
                  <a:srgbClr val="2A2A2A"/>
                </a:solidFill>
              </a:rPr>
              <a:t>Objectives and Requirements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03    </a:t>
            </a:r>
            <a:r>
              <a:rPr sz="1600">
                <a:solidFill>
                  <a:srgbClr val="2A2A2A"/>
                </a:solidFill>
              </a:rPr>
              <a:t>System Analysis and Design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04    </a:t>
            </a:r>
            <a:r>
              <a:rPr sz="1600">
                <a:solidFill>
                  <a:srgbClr val="2A2A2A"/>
                </a:solidFill>
              </a:rPr>
              <a:t>The Five-Step Algorithm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05    </a:t>
            </a:r>
            <a:r>
              <a:rPr sz="1600">
                <a:solidFill>
                  <a:srgbClr val="2A2A2A"/>
                </a:solidFill>
              </a:rPr>
              <a:t>Key Terms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06    </a:t>
            </a:r>
            <a:r>
              <a:rPr sz="1600">
                <a:solidFill>
                  <a:srgbClr val="2A2A2A"/>
                </a:solidFill>
              </a:rPr>
              <a:t>Implementation and Tools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07    </a:t>
            </a:r>
            <a:r>
              <a:rPr sz="1600">
                <a:solidFill>
                  <a:srgbClr val="2A2A2A"/>
                </a:solidFill>
              </a:rPr>
              <a:t>Results and Validation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2E6FB5"/>
                </a:solidFill>
              </a:rPr>
              <a:t>08    </a:t>
            </a:r>
            <a:r>
              <a:rPr sz="1600">
                <a:solidFill>
                  <a:srgbClr val="2A2A2A"/>
                </a:solidFill>
              </a:rPr>
              <a:t>Limitations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Ball-tracking review for everyday cricket, from a single phone.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Leg Before Wicket (LBW): cricket's hardest call, judged live from one angle.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Hawk-Eye needs six to eight synced high-speed cameras and costly hardware.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Out of reach for schools, clubs, and training grounds.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PocketDRS rebuilds the delivery in 3D from one phone clip and supports the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Recover a true 3D ball path from a single flat (2D) video.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 dirty="0">
                <a:solidFill>
                  <a:srgbClr val="2E6FB5"/>
                </a:solidFill>
              </a:rPr>
              <a:t>▪  </a:t>
            </a:r>
            <a:r>
              <a:rPr sz="1500" dirty="0">
                <a:solidFill>
                  <a:srgbClr val="2A2A2A"/>
                </a:solidFill>
              </a:rPr>
              <a:t>An umpire judges line, length, height, and impact at once, in real time.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 dirty="0">
                <a:solidFill>
                  <a:srgbClr val="2E6FB5"/>
                </a:solidFill>
              </a:rPr>
              <a:t>▪  </a:t>
            </a:r>
            <a:r>
              <a:rPr sz="1500" dirty="0">
                <a:solidFill>
                  <a:srgbClr val="2A2A2A"/>
                </a:solidFill>
              </a:rPr>
              <a:t>Multi-camera rigs are accurate but unaffordable for grassroots cricket.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 dirty="0">
                <a:solidFill>
                  <a:srgbClr val="2E6FB5"/>
                </a:solidFill>
              </a:rPr>
              <a:t>▪  </a:t>
            </a:r>
            <a:r>
              <a:rPr sz="1500" dirty="0">
                <a:solidFill>
                  <a:srgbClr val="2A2A2A"/>
                </a:solidFill>
              </a:rPr>
              <a:t>One phone gives flat 2D only: unknown depth, motion blur.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 dirty="0">
                <a:solidFill>
                  <a:srgbClr val="2E6FB5"/>
                </a:solidFill>
              </a:rPr>
              <a:t>▪  </a:t>
            </a:r>
            <a:r>
              <a:rPr sz="1500" dirty="0">
                <a:solidFill>
                  <a:srgbClr val="2A2A2A"/>
                </a:solidFill>
              </a:rPr>
              <a:t>Goal: a 3D flight and a clear, explained verdict from one viewpoint.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A phone-only pipeline: from clip to verdict.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Recover the camera position from the marked stumps (Perspective-n-Point, PnP).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Detect and track the ball (motion + colour + a trained YOLO detector).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Link the detections into one smooth path (Random Sample Consensus, RANSAC).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Rebuild the 3D path with projectile physics; apply the three ICC Rule 36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rPr lang="en-US" dirty="0"/>
              <a:t>C</a:t>
            </a:r>
            <a:r>
              <a:rPr dirty="0"/>
              <a:t>apture, calibrate, </a:t>
            </a:r>
            <a:r>
              <a:rPr dirty="0" err="1"/>
              <a:t>analyse</a:t>
            </a:r>
            <a:r>
              <a:rPr dirty="0"/>
              <a:t>, </a:t>
            </a:r>
            <a:r>
              <a:rPr dirty="0" err="1"/>
              <a:t>visualise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Record or upload a clip and tap the four pitch corners to calibrate.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Detect the ball per frame and link it into one trajectory.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Recover the camera position and rebuild the path in real-world 3D.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Return an LBW verdict with a 2D overlay and an interactive 3D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Fast, easy, clear, and portable, with no special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Speed: a delivery analysed in about thirty seconds.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Ease of use: four taps, no setup, no special hardware.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Transparency: every verdict shows all three checks and the predicted impact.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Portability: a normal Android or iPhone plus a small cloud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ANALYSIS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Use-Case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131" y="1280160"/>
            <a:ext cx="2091738" cy="30769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ANALYSIS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Data Model: Entity-Relationship (ER)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9</a:t>
            </a:r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85" y="1280160"/>
            <a:ext cx="2134229" cy="3076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ANALYSIS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Process Model: Data Flow Diagrams (DFD)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28145"/>
            <a:ext cx="3977640" cy="7066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82796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C8690"/>
                </a:solidFill>
              </a:defRPr>
            </a:pPr>
            <a:r>
              <a:t>Level 0 (context)</a:t>
            </a:r>
          </a:p>
        </p:txBody>
      </p:sp>
      <p:pic>
        <p:nvPicPr>
          <p:cNvPr id="8" name="Picture 7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531" y="1280160"/>
            <a:ext cx="1940898" cy="28026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4082796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C8690"/>
                </a:solidFill>
              </a:defRPr>
            </a:pPr>
            <a:r>
              <a:t>Level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ANALYSIS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11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708" y="1280160"/>
            <a:ext cx="2348584" cy="3076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Algorithm: The Five-Step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Five steps turn one phone clip into an LBW verdict.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55698"/>
            <a:ext cx="1528876" cy="196596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9614" y="2356866"/>
            <a:ext cx="384048" cy="384048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9614" y="23568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2354"/>
            <a:ext cx="1345996" cy="12161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12335B"/>
                </a:solidFill>
              </a:defRPr>
            </a:pPr>
            <a:r>
              <a:t>Calibrate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A2A2A"/>
                </a:solidFill>
              </a:defRPr>
            </a:pPr>
            <a:r>
              <a:t>Marked stumps reveal the camera position (PnP).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7788" y="2155698"/>
            <a:ext cx="182880" cy="196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6FB5"/>
                </a:solidFill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2380" y="2155698"/>
            <a:ext cx="1528876" cy="196596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704794" y="2356866"/>
            <a:ext cx="384048" cy="384048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04794" y="23568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3820" y="2832354"/>
            <a:ext cx="1345996" cy="12161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12335B"/>
                </a:solidFill>
              </a:defRPr>
            </a:pPr>
            <a:r>
              <a:t>Detect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A2A2A"/>
                </a:solidFill>
              </a:defRPr>
            </a:pPr>
            <a:r>
              <a:t>Find the ball each frame: motion, colour, YOLO.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968" y="2155698"/>
            <a:ext cx="182880" cy="196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6FB5"/>
                </a:solidFill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7560" y="2155698"/>
            <a:ext cx="1528876" cy="196596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79974" y="2356866"/>
            <a:ext cx="384048" cy="384048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9974" y="23568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9000" y="2832354"/>
            <a:ext cx="1345996" cy="12161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12335B"/>
                </a:solidFill>
              </a:defRPr>
            </a:pPr>
            <a:r>
              <a:t>Link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A2A2A"/>
                </a:solidFill>
              </a:defRPr>
            </a:pPr>
            <a:r>
              <a:t>RANSAC fits one curve, drops false detections.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8148" y="2155698"/>
            <a:ext cx="182880" cy="196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6FB5"/>
                </a:solidFill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2740" y="2155698"/>
            <a:ext cx="1528876" cy="196596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55154" y="2356866"/>
            <a:ext cx="384048" cy="384048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55154" y="23568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4180" y="2832354"/>
            <a:ext cx="1345996" cy="12161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12335B"/>
                </a:solidFill>
              </a:defRPr>
            </a:pPr>
            <a:r>
              <a:t>Reconstruct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A2A2A"/>
                </a:solidFill>
              </a:defRPr>
            </a:pPr>
            <a:r>
              <a:t>Gravity-based fit lifts the track to a 3D arc.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3328" y="2155698"/>
            <a:ext cx="182880" cy="1965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6FB5"/>
                </a:solidFill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7920" y="2155698"/>
            <a:ext cx="1528876" cy="196596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30334" y="2356866"/>
            <a:ext cx="384048" cy="384048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30334" y="23568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9360" y="2832354"/>
            <a:ext cx="1345996" cy="12161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12335B"/>
                </a:solidFill>
              </a:defRPr>
            </a:pPr>
            <a:r>
              <a:t>Decide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A2A2A"/>
                </a:solidFill>
              </a:defRPr>
            </a:pPr>
            <a:r>
              <a:t>Three ICC Rule 36 checks give the verdict.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Key Terms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The standard computer-vision tools behind the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1952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t>Camera pose (PnP)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t>Finds where the phone stood, from the marked stumps.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72584" y="1901952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73752" y="1901952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t>Homography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t>Maps any flat-pitch point in the photo to real metres.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30118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230118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t>RANSAC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t>Fits the ball's path while ignoring wrong detections.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584" y="3230118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3230118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t>Projectile motion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t>Gravity's curve; forces a real ball flight, not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Key Terms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How the ball is found and depth recovered from one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1952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t>MOG2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t>Separates the moving ball from the still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72584" y="1901952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73752" y="1901952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rPr dirty="0"/>
              <a:t>HSV </a:t>
            </a:r>
            <a:r>
              <a:rPr dirty="0" err="1"/>
              <a:t>colour</a:t>
            </a:r>
            <a:endParaRPr dirty="0"/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rPr dirty="0"/>
              <a:t>A </a:t>
            </a:r>
            <a:r>
              <a:rPr dirty="0" err="1"/>
              <a:t>colour</a:t>
            </a:r>
            <a:r>
              <a:rPr dirty="0"/>
              <a:t> space that isolates one ball </a:t>
            </a:r>
            <a:r>
              <a:rPr dirty="0" err="1"/>
              <a:t>colour</a:t>
            </a:r>
            <a:r>
              <a:rPr dirty="0"/>
              <a:t> despite light.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30118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230118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rPr dirty="0"/>
              <a:t>YOLO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rPr dirty="0"/>
              <a:t>A trained network that spots the cricket ball in a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584" y="3230118"/>
            <a:ext cx="4014216" cy="1126998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3230118"/>
            <a:ext cx="3611880" cy="1126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12335B"/>
                </a:solidFill>
              </a:defRPr>
            </a:pPr>
            <a:r>
              <a:rPr dirty="0"/>
              <a:t>Depth-from-size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A2A2A"/>
                </a:solidFill>
              </a:defRPr>
            </a:pPr>
            <a:r>
              <a:rPr dirty="0"/>
              <a:t>Smaller ball looks farther; recovers 3D from one camera.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Implementation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An open-source phone-to-cloud stack, with no paid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Flutter + Dart: the cross-platform mobile app.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FastAPI (Python): the analysis server, over a REST web interface.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OpenCV, NumPy, SciPy: the computer-vision maths.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YOLO + PyTorch: the trained ball detector. Three.js: the 3D viewer. Firebase: sign-in and storage.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Module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One module per pipeline step, each small and testable.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Calibration: camera position from the tapped stumps; also gives pitch length.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Detection: motion + colour + YOLO inside the pitch area.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Trajectory: RANSAC seed, refine, then merge the pre- and post-bounce arcs.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Reconstruction + decision: lift to 3D, predict to the stumps, apply ICC Rule 36.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Real-Video Test: test3.mp4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A real handheld off-spin clip, tracked end to end (full 20.12 m pitch).</a:t>
            </a:r>
          </a:p>
        </p:txBody>
      </p:sp>
      <p:pic>
        <p:nvPicPr>
          <p:cNvPr id="7" name="Picture 6" descr="test3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45" y="1847088"/>
            <a:ext cx="1411890" cy="25100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32020" y="1847088"/>
            <a:ext cx="1904238" cy="825246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1748" y="1847088"/>
            <a:ext cx="1684782" cy="8252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12335B"/>
                </a:solidFill>
              </a:defRPr>
            </a:pPr>
            <a:r>
              <a:t>29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8690"/>
                </a:solidFill>
              </a:defRPr>
            </a:pPr>
            <a:r>
              <a:t>ball detections (28 fit the path)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2562" y="1847088"/>
            <a:ext cx="1904238" cy="825246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92290" y="1847088"/>
            <a:ext cx="1684782" cy="8252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12335B"/>
                </a:solidFill>
              </a:defRPr>
            </a:pPr>
            <a:r>
              <a:t>10.55 px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8690"/>
                </a:solidFill>
              </a:defRPr>
            </a:pPr>
            <a:r>
              <a:t>calibration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2020" y="2818638"/>
            <a:ext cx="1904238" cy="825246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1748" y="2818638"/>
            <a:ext cx="1684782" cy="8252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12335B"/>
                </a:solidFill>
              </a:defRPr>
            </a:pPr>
            <a:r>
              <a:t>84.0 km/h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8690"/>
                </a:solidFill>
              </a:defRPr>
            </a:pPr>
            <a:r>
              <a:t>release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2562" y="2818638"/>
            <a:ext cx="1904238" cy="825246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2290" y="2818638"/>
            <a:ext cx="1684782" cy="8252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12335B"/>
                </a:solidFill>
              </a:defRPr>
            </a:pPr>
            <a:r>
              <a:t>2.3°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7C8690"/>
                </a:solidFill>
              </a:defRPr>
            </a:pPr>
            <a:r>
              <a:t>off-break turn (spin)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2020" y="3790188"/>
            <a:ext cx="3954780" cy="566928"/>
          </a:xfrm>
          <a:prstGeom prst="roundRect">
            <a:avLst>
              <a:gd name="adj" fmla="val 8000"/>
            </a:avLst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4900" y="3790188"/>
            <a:ext cx="35890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NOT OUT  ·  predicted to miss the stumps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Interactive 3D Ball-Path View: test3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18</a:t>
            </a:r>
          </a:p>
        </p:txBody>
      </p:sp>
      <p:pic>
        <p:nvPicPr>
          <p:cNvPr id="6" name="Picture 5" descr="test3_3d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435" y="1280160"/>
            <a:ext cx="4923129" cy="30769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E6FB5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Synthetic Validation: 8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19</a:t>
            </a:r>
          </a:p>
        </p:txBody>
      </p:sp>
      <p:pic>
        <p:nvPicPr>
          <p:cNvPr id="6" name="Picture 5" descr="synth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69363"/>
            <a:ext cx="3954780" cy="1098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2020" y="1280160"/>
            <a:ext cx="39547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2E6FB5"/>
                </a:solidFill>
              </a:defRPr>
            </a:pPr>
            <a:r>
              <a:t>8/8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2335B"/>
                </a:solidFill>
              </a:defRPr>
            </a:pPr>
            <a:r>
              <a:t>scenarios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2020" y="2697480"/>
            <a:ext cx="3954780" cy="1659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00" b="1">
                <a:solidFill>
                  <a:srgbClr val="2E6FB5"/>
                </a:solidFill>
              </a:rPr>
              <a:t>▪  </a:t>
            </a:r>
            <a:r>
              <a:rPr sz="1300">
                <a:solidFill>
                  <a:srgbClr val="2A2A2A"/>
                </a:solidFill>
              </a:rPr>
              <a:t>Controlled deliveries: medium pace, middle-stump line, full length.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00" b="1">
                <a:solidFill>
                  <a:srgbClr val="2E6FB5"/>
                </a:solidFill>
              </a:rPr>
              <a:t>▪  </a:t>
            </a:r>
            <a:r>
              <a:rPr sz="1300">
                <a:solidFill>
                  <a:srgbClr val="2A2A2A"/>
                </a:solidFill>
              </a:rPr>
              <a:t>Camera position recovered correctly in every scene.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00" b="1">
                <a:solidFill>
                  <a:srgbClr val="2E6FB5"/>
                </a:solidFill>
              </a:rPr>
              <a:t>▪  </a:t>
            </a:r>
            <a:r>
              <a:rPr sz="1300">
                <a:solidFill>
                  <a:srgbClr val="2A2A2A"/>
                </a:solidFill>
              </a:rPr>
              <a:t>All within honest single-camera limits (speed, bounce, impact).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00" b="1">
                <a:solidFill>
                  <a:srgbClr val="2E6FB5"/>
                </a:solidFill>
              </a:rPr>
              <a:t>▪  </a:t>
            </a:r>
            <a:r>
              <a:rPr sz="1300">
                <a:solidFill>
                  <a:srgbClr val="2A2A2A"/>
                </a:solidFill>
              </a:rPr>
              <a:t>Every delivery was truly OUT; the system returned OUT for all eight.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Honest about what one camera can and cannot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One phone cannot triangulate depth like six to eight synced Hawk-Eye cameras.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Depth from ball size is good to a few tens of centimetres, not millimetres.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The 8/8 passes are within single-camera limits, not broadcast limits.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Built as decision support for nets and clubs, not an official broadcast replacement.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35B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60704"/>
            <a:ext cx="173736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335B"/>
                </a:solidFill>
              </a:defRPr>
            </a:pPr>
            <a:r>
              <a:t>One phone, a known pitch, and simple physics: enough for usable LBW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2510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A full pipeline: calibrate, detect, track, reconstruct, decide.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Validated on synthetic deliveries (8/8) and real footage.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Refuses to invent a verdict on unusable clips: it fails clearly, not silently.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300" b="1">
                <a:solidFill>
                  <a:srgbClr val="2E6FB5"/>
                </a:solidFill>
              </a:rPr>
              <a:t>▪  </a:t>
            </a:r>
            <a:r>
              <a:rPr sz="1500">
                <a:solidFill>
                  <a:srgbClr val="2A2A2A"/>
                </a:solidFill>
              </a:rPr>
              <a:t>Future work: two-phone capture, learned bounce model, and on-phone detection.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46720" y="47777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C8690"/>
                </a:solidFill>
              </a:defRPr>
            </a:pPr>
            <a: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83080"/>
            <a:ext cx="2011680" cy="508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defRPr sz="4000" b="1">
                <a:solidFill>
                  <a:srgbClr val="12335B"/>
                </a:solidFill>
              </a:defRPr>
            </a:pPr>
            <a:r>
              <a:t>Thank You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  <a:defRPr sz="1800" b="0">
                <a:solidFill>
                  <a:srgbClr val="2E6FB5"/>
                </a:solidFill>
              </a:defRPr>
            </a:pPr>
            <a:r>
              <a:t>Questions and Discussion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A2A2A"/>
                </a:solidFill>
              </a:defRPr>
            </a:pPr>
            <a:r>
              <a:t>Niraj Kafle,  PocketDRS,  BIT Final-Year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Microsoft Macintosh PowerPoint</Application>
  <PresentationFormat>On-screen Show (16:9)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1</cp:revision>
  <dcterms:modified xsi:type="dcterms:W3CDTF">2026-05-30T16:52:42Z</dcterms:modified>
</cp:coreProperties>
</file>